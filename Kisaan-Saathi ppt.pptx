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8229600" cx="14630400"/>
  <p:notesSz cx="8229600" cy="14630400"/>
  <p:embeddedFontLst>
    <p:embeddedFont>
      <p:font typeface="Lato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uZGATvvhMTHnfku6jz1NKRPta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Lato-bold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47ca34e03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47ca34e03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c47ca34e03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47ca34e03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47ca34e03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c47ca34e03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47ca34e03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47ca34e03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c47ca34e03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47ca34e03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47ca34e03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c47ca34e03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47ca34e03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47ca34e03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c47ca34e03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47ca34e03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47ca34e03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c47ca34e03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47ca34e03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47ca34e03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c47ca34e03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Relationship Id="rId5" Type="http://schemas.openxmlformats.org/officeDocument/2006/relationships/image" Target="../media/image35.png"/><Relationship Id="rId6" Type="http://schemas.openxmlformats.org/officeDocument/2006/relationships/image" Target="../media/image20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/>
          <p:nvPr/>
        </p:nvSpPr>
        <p:spPr>
          <a:xfrm>
            <a:off x="793790" y="1515031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4450"/>
              <a:buFont typeface="Lato"/>
              <a:buNone/>
            </a:pPr>
            <a:r>
              <a:rPr b="1" i="0" lang="en-US" sz="445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Kisaan Saathi AI: Empowering Indian Farmers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739790" y="3741275"/>
            <a:ext cx="7664400" cy="25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062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4A4A45"/>
                </a:solidFill>
                <a:latin typeface="Calibri"/>
                <a:ea typeface="Calibri"/>
                <a:cs typeface="Calibri"/>
                <a:sym typeface="Calibri"/>
              </a:rPr>
              <a:t>A mobile-first solution delivering timely, localized agricultural advice to smallholder farmers in India — in English, Hindi, and Marathi. Combines human-centered UX with AI-driven agronomy to increase yield, reduce input cost, and improve livelihoods.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/>
          <p:nvPr/>
        </p:nvSpPr>
        <p:spPr>
          <a:xfrm>
            <a:off x="972820" y="572195"/>
            <a:ext cx="5321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571500" lvl="0" marL="571500" marR="0" rtl="0" algn="l">
              <a:lnSpc>
                <a:spcPct val="123611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3600"/>
              <a:buFont typeface="Noto Sans Symbols"/>
              <a:buChar char="❖"/>
            </a:pPr>
            <a:r>
              <a:rPr b="1" i="0" lang="en-US" sz="360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Methodology :-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972820" y="1331420"/>
            <a:ext cx="73869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89062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4A4A45"/>
                </a:solidFill>
                <a:latin typeface="Calibri"/>
                <a:ea typeface="Calibri"/>
                <a:cs typeface="Calibri"/>
                <a:sym typeface="Calibri"/>
              </a:rPr>
              <a:t>Built a cross-platform Expo React Native app for mobile device user interface (UI).</a:t>
            </a:r>
            <a:endParaRPr b="0" i="0" sz="3200" u="none" cap="none" strike="noStrike">
              <a:solidFill>
                <a:srgbClr val="4A4A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2550" lvl="0" marL="285750" marR="0" rtl="0" algn="l">
              <a:lnSpc>
                <a:spcPct val="890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4A4A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89062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4A4A45"/>
                </a:solidFill>
                <a:latin typeface="Calibri"/>
                <a:ea typeface="Calibri"/>
                <a:cs typeface="Calibri"/>
                <a:sym typeface="Calibri"/>
              </a:rPr>
              <a:t>Backend connects to MySQL database and integrates Google Gemini AI.</a:t>
            </a:r>
            <a:endParaRPr b="0" i="0" sz="3200" u="none" cap="none" strike="noStrike">
              <a:solidFill>
                <a:srgbClr val="4A4A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2550" lvl="0" marL="285750" marR="0" rtl="0" algn="l">
              <a:lnSpc>
                <a:spcPct val="890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4A4A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89062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4A4A45"/>
                </a:solidFill>
                <a:latin typeface="Calibri"/>
                <a:ea typeface="Calibri"/>
                <a:cs typeface="Calibri"/>
                <a:sym typeface="Calibri"/>
              </a:rPr>
              <a:t>Users interact in English, Hindi or Marathi.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933674" y="4943100"/>
            <a:ext cx="5399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571500" lvl="0" marL="571500" marR="0" rtl="0" algn="l">
              <a:lnSpc>
                <a:spcPct val="76388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3600"/>
              <a:buFont typeface="Noto Sans Symbols"/>
              <a:buChar char="❖"/>
            </a:pPr>
            <a:r>
              <a:rPr b="1" i="0" lang="en-US" sz="36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Technologies Used :-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1082675" y="5582255"/>
            <a:ext cx="11085900" cy="25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89062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4A4A45"/>
                </a:solidFill>
                <a:latin typeface="Calibri"/>
                <a:ea typeface="Calibri"/>
                <a:cs typeface="Calibri"/>
                <a:sym typeface="Calibri"/>
              </a:rPr>
              <a:t>React Native &amp; Expo for frontend.</a:t>
            </a:r>
            <a:endParaRPr b="0" i="0" sz="3200" u="none" cap="none" strike="noStrike">
              <a:solidFill>
                <a:srgbClr val="4A4A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2550" lvl="0" marL="285750" marR="0" rtl="0" algn="l">
              <a:lnSpc>
                <a:spcPct val="890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4A4A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890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flask for backend.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2550" lvl="0" marL="285750" marR="0" rtl="0" algn="l">
              <a:lnSpc>
                <a:spcPct val="890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890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 for database 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6725364" y="4144566"/>
            <a:ext cx="2669143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7184469" y="5207754"/>
            <a:ext cx="2669143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1167467" y="4144566"/>
            <a:ext cx="266914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11167467" y="4634984"/>
            <a:ext cx="2669143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8" name="Google Shape;7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5732095" y="506145"/>
            <a:ext cx="50979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571500" lvl="0" marL="571500" marR="0" rtl="0" algn="l">
              <a:lnSpc>
                <a:spcPct val="106944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3600"/>
              <a:buFont typeface="Noto Sans Symbols"/>
              <a:buChar char="❖"/>
            </a:pPr>
            <a:r>
              <a:rPr b="1" i="0" lang="en-US" sz="360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Languages Used :-</a:t>
            </a:r>
            <a:endParaRPr b="1" i="0" sz="3600" u="none" cap="none" strike="noStrike">
              <a:solidFill>
                <a:srgbClr val="2828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69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1" i="0" sz="3600" u="none" cap="none" strike="noStrike">
              <a:solidFill>
                <a:srgbClr val="282824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80" name="Google Shape;8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795" y="1656159"/>
            <a:ext cx="490299" cy="49029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/>
          <p:nvPr/>
        </p:nvSpPr>
        <p:spPr>
          <a:xfrm>
            <a:off x="6172795" y="2358390"/>
            <a:ext cx="3551277" cy="306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953750" y="1332732"/>
            <a:ext cx="7771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31800" lvl="0" marL="45720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3200"/>
              <a:buChar char="•"/>
            </a:pPr>
            <a:r>
              <a:rPr lang="en-US" sz="3200">
                <a:solidFill>
                  <a:srgbClr val="4A4A45"/>
                </a:solidFill>
                <a:latin typeface="Calibri"/>
                <a:ea typeface="Calibri"/>
                <a:cs typeface="Calibri"/>
                <a:sym typeface="Calibri"/>
              </a:rPr>
              <a:t>Java Script (JS).</a:t>
            </a:r>
            <a:endParaRPr sz="3200">
              <a:solidFill>
                <a:srgbClr val="4A4A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2550" lvl="0" marL="28575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4A4A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3200"/>
              <a:buChar char="•"/>
            </a:pPr>
            <a:r>
              <a:rPr lang="en-US" sz="3200">
                <a:solidFill>
                  <a:srgbClr val="4A4A45"/>
                </a:solidFill>
                <a:latin typeface="Calibri"/>
                <a:ea typeface="Calibri"/>
                <a:cs typeface="Calibri"/>
                <a:sym typeface="Calibri"/>
              </a:rPr>
              <a:t>Python.</a:t>
            </a:r>
            <a:endParaRPr sz="3200">
              <a:solidFill>
                <a:srgbClr val="4A4A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2550" lvl="0" marL="28575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4A4A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4A4A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795" y="3397925"/>
            <a:ext cx="490299" cy="49029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6172795" y="4100155"/>
            <a:ext cx="3688080" cy="306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732105" y="3756021"/>
            <a:ext cx="7771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571500" lvl="0" marL="571500" marR="0" rtl="0" algn="l">
              <a:lnSpc>
                <a:spcPct val="63888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3600"/>
              <a:buFont typeface="Noto Sans Symbols"/>
              <a:buChar char="❖"/>
            </a:pPr>
            <a:r>
              <a:rPr b="1" i="0" lang="en-US" sz="360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Problem Statement :-</a:t>
            </a:r>
            <a:endParaRPr b="1" i="0" sz="3600" u="none" cap="none" strike="noStrike">
              <a:solidFill>
                <a:srgbClr val="2828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795" y="5139690"/>
            <a:ext cx="490299" cy="49029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6172795" y="5841921"/>
            <a:ext cx="2451616" cy="306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732100" y="4406500"/>
            <a:ext cx="8898300" cy="15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4A4A45"/>
                </a:solidFill>
                <a:latin typeface="Calibri"/>
                <a:ea typeface="Calibri"/>
                <a:cs typeface="Calibri"/>
                <a:sym typeface="Calibri"/>
              </a:rPr>
              <a:t>Many farmers lack access to expert agronomic</a:t>
            </a:r>
            <a:endParaRPr b="0" i="0" sz="3200" u="none" cap="none" strike="noStrike">
              <a:solidFill>
                <a:srgbClr val="4A4A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45720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4A4A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4A4A45"/>
                </a:solidFill>
                <a:latin typeface="Calibri"/>
                <a:ea typeface="Calibri"/>
                <a:cs typeface="Calibri"/>
                <a:sym typeface="Calibri"/>
              </a:rPr>
              <a:t>     support.</a:t>
            </a:r>
            <a:endParaRPr b="0" i="0" sz="3200" u="none" cap="none" strike="noStrike">
              <a:solidFill>
                <a:srgbClr val="4A4A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4A4A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face crop issues, pests and fertilizer decisions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45720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with limited information.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leads to reduced yields and increased costs.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172795" y="6733103"/>
            <a:ext cx="7771209" cy="584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862615" y="515926"/>
            <a:ext cx="4536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571500" lvl="0" marL="57150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3550"/>
              <a:buFont typeface="Noto Sans Symbols"/>
              <a:buChar char="❖"/>
            </a:pPr>
            <a:r>
              <a:rPr b="1" i="0" lang="en-US" sz="355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Problem Solution :-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793790" y="1856661"/>
            <a:ext cx="2329815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50"/>
              <a:buFont typeface="Calibri"/>
              <a:buNone/>
            </a:pPr>
            <a:r>
              <a:t/>
            </a:r>
            <a:endParaRPr b="0" i="0" sz="5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793790" y="2888456"/>
            <a:ext cx="232981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793750" y="3378835"/>
            <a:ext cx="8115935" cy="108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4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407093" y="1856661"/>
            <a:ext cx="2329815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50"/>
              <a:buFont typeface="Calibri"/>
              <a:buNone/>
            </a:pPr>
            <a:r>
              <a:t/>
            </a:r>
            <a:endParaRPr b="0" i="0" sz="5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407093" y="2888456"/>
            <a:ext cx="232981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407093" y="3378875"/>
            <a:ext cx="232981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020395" y="1856661"/>
            <a:ext cx="2329815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50"/>
              <a:buFont typeface="Calibri"/>
              <a:buNone/>
            </a:pPr>
            <a:r>
              <a:t/>
            </a:r>
            <a:endParaRPr b="0" i="0" sz="5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020395" y="2888456"/>
            <a:ext cx="232981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020395" y="3378875"/>
            <a:ext cx="23298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93790" y="4722733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555468" y="6429504"/>
            <a:ext cx="65925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8375" y="1082925"/>
            <a:ext cx="3584550" cy="695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5475" y="2067525"/>
            <a:ext cx="4720650" cy="472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782948" y="615075"/>
            <a:ext cx="9085200" cy="5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3500"/>
              <a:buFont typeface="Noto Sans Symbols"/>
              <a:buChar char="❖"/>
            </a:pPr>
            <a:r>
              <a:rPr b="1" i="0" lang="en-US" sz="350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How it Works — User Experience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723247" y="1565315"/>
            <a:ext cx="8300700" cy="24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8593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4A4A45"/>
                </a:solidFill>
                <a:latin typeface="Calibri"/>
                <a:ea typeface="Calibri"/>
                <a:cs typeface="Calibri"/>
                <a:sym typeface="Calibri"/>
              </a:rPr>
              <a:t>Signup / Login with phone number — secure, simple authentication.</a:t>
            </a:r>
            <a:endParaRPr b="0" i="0" sz="3200" u="none" cap="none" strike="noStrike">
              <a:solidFill>
                <a:srgbClr val="4A4A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8593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8593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4A4A45"/>
                </a:solidFill>
                <a:latin typeface="Calibri"/>
                <a:ea typeface="Calibri"/>
                <a:cs typeface="Calibri"/>
                <a:sym typeface="Calibri"/>
              </a:rPr>
              <a:t>Choose language (English, Hindi, Marathi) and set farm profile (location, crops, area).</a:t>
            </a:r>
            <a:endParaRPr b="0" i="0" sz="3200" u="none" cap="none" strike="noStrike">
              <a:solidFill>
                <a:srgbClr val="4A4A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8593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8593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4A4A45"/>
                </a:solidFill>
                <a:latin typeface="Calibri"/>
                <a:ea typeface="Calibri"/>
                <a:cs typeface="Calibri"/>
                <a:sym typeface="Calibri"/>
              </a:rPr>
              <a:t>Ask AI: type questions about pests, fertilizer, or crop care.</a:t>
            </a:r>
            <a:endParaRPr b="0" i="0" sz="3200" u="none" cap="none" strike="noStrike">
              <a:solidFill>
                <a:srgbClr val="4A4A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8593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8593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4A4A45"/>
                </a:solidFill>
                <a:latin typeface="Calibri"/>
                <a:ea typeface="Calibri"/>
                <a:cs typeface="Calibri"/>
                <a:sym typeface="Calibri"/>
              </a:rPr>
              <a:t>Create a Farm Session for targeted fertilizer plans and follow-up.</a:t>
            </a:r>
            <a:endParaRPr b="0" i="0" sz="3200" u="none" cap="none" strike="noStrike">
              <a:solidFill>
                <a:srgbClr val="4A4A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8593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8593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4A4A45"/>
                </a:solidFill>
                <a:latin typeface="Calibri"/>
                <a:ea typeface="Calibri"/>
                <a:cs typeface="Calibri"/>
                <a:sym typeface="Calibri"/>
              </a:rPr>
              <a:t>View history, tips, weather updates, and market price pointers.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294640" y="1753235"/>
            <a:ext cx="70580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864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Calibri"/>
              <a:buNone/>
            </a:pPr>
            <a:r>
              <a:t/>
            </a:r>
            <a:endParaRPr b="0" i="0" sz="9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8825" y="1305800"/>
            <a:ext cx="3721899" cy="6594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/>
        </p:nvSpPr>
        <p:spPr>
          <a:xfrm>
            <a:off x="939165" y="509790"/>
            <a:ext cx="7315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l">
              <a:lnSpc>
                <a:spcPct val="101136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4400"/>
              <a:buFont typeface="Noto Sans Symbols"/>
              <a:buChar char="❖"/>
            </a:pPr>
            <a:r>
              <a:rPr b="1" i="0" lang="en-US" sz="440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Output :-</a:t>
            </a:r>
            <a:endParaRPr b="1" i="0" sz="4400" u="none" cap="none" strike="noStrike">
              <a:solidFill>
                <a:srgbClr val="28282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9406249" y="4150850"/>
            <a:ext cx="454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AI Interface Page</a:t>
            </a:r>
            <a:endParaRPr sz="3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4" name="Google Shape;12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0075" y="1452775"/>
            <a:ext cx="3502774" cy="6456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7300" y="1452775"/>
            <a:ext cx="3363201" cy="6456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3c47ca34e03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600" y="152400"/>
            <a:ext cx="3863340" cy="79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c47ca34e03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1865" y="152400"/>
            <a:ext cx="3655314" cy="792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c47ca34e03_0_15"/>
          <p:cNvSpPr txBox="1"/>
          <p:nvPr/>
        </p:nvSpPr>
        <p:spPr>
          <a:xfrm>
            <a:off x="9341975" y="1572550"/>
            <a:ext cx="531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g3c47ca34e03_0_15"/>
          <p:cNvSpPr txBox="1"/>
          <p:nvPr/>
        </p:nvSpPr>
        <p:spPr>
          <a:xfrm>
            <a:off x="8706900" y="2954600"/>
            <a:ext cx="6103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Fertilizer Recommendations Interface Page</a:t>
            </a:r>
            <a:endParaRPr sz="7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3c47ca34e03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925" y="152400"/>
            <a:ext cx="3863340" cy="79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c47ca34e03_0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2915" y="152400"/>
            <a:ext cx="3833622" cy="792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c47ca34e03_0_29"/>
          <p:cNvSpPr txBox="1"/>
          <p:nvPr/>
        </p:nvSpPr>
        <p:spPr>
          <a:xfrm>
            <a:off x="9618400" y="3006950"/>
            <a:ext cx="530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Weather Interface Page</a:t>
            </a:r>
            <a:endParaRPr sz="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g3c47ca34e03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300" y="152400"/>
            <a:ext cx="3883152" cy="79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g3c47ca34e03_0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3676" y="152400"/>
            <a:ext cx="3853434" cy="792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c47ca34e03_0_37"/>
          <p:cNvSpPr txBox="1"/>
          <p:nvPr/>
        </p:nvSpPr>
        <p:spPr>
          <a:xfrm>
            <a:off x="9767825" y="2932225"/>
            <a:ext cx="547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Tips Interface Page</a:t>
            </a:r>
            <a:endParaRPr sz="2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g3c47ca34e03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114" y="152400"/>
            <a:ext cx="4051554" cy="79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c47ca34e03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4068" y="152400"/>
            <a:ext cx="4051554" cy="792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c47ca34e03_0_45"/>
          <p:cNvSpPr txBox="1"/>
          <p:nvPr/>
        </p:nvSpPr>
        <p:spPr>
          <a:xfrm>
            <a:off x="12368025" y="3137650"/>
            <a:ext cx="21876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Market Price Interface Page</a:t>
            </a:r>
            <a:endParaRPr sz="2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9" name="Google Shape;159;g3c47ca34e03_0_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3655325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47ca34e03_0_23"/>
          <p:cNvSpPr txBox="1"/>
          <p:nvPr/>
        </p:nvSpPr>
        <p:spPr>
          <a:xfrm>
            <a:off x="6353750" y="3290775"/>
            <a:ext cx="1004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History Of Past Queries Interface Page</a:t>
            </a:r>
            <a:endParaRPr sz="2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6" name="Google Shape;166;g3c47ca34e03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9900" y="152400"/>
            <a:ext cx="3838575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3c47ca34e03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838575" cy="79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c47ca34e03_0_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375" y="152400"/>
            <a:ext cx="3793998" cy="79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c47ca34e03_0_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9773" y="152400"/>
            <a:ext cx="3838575" cy="792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c47ca34e03_0_63"/>
          <p:cNvSpPr txBox="1"/>
          <p:nvPr/>
        </p:nvSpPr>
        <p:spPr>
          <a:xfrm>
            <a:off x="12080750" y="2065625"/>
            <a:ext cx="25803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Lato"/>
                <a:ea typeface="Lato"/>
                <a:cs typeface="Lato"/>
                <a:sym typeface="Lato"/>
              </a:rPr>
              <a:t>Language Interface -</a:t>
            </a:r>
            <a:endParaRPr sz="3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Lato"/>
                <a:ea typeface="Lato"/>
                <a:cs typeface="Lato"/>
                <a:sym typeface="Lato"/>
              </a:rPr>
              <a:t>English</a:t>
            </a:r>
            <a:r>
              <a:rPr lang="en-US" sz="3400">
                <a:latin typeface="Lato"/>
                <a:ea typeface="Lato"/>
                <a:cs typeface="Lato"/>
                <a:sym typeface="Lato"/>
              </a:rPr>
              <a:t>,</a:t>
            </a:r>
            <a:endParaRPr sz="3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Lato"/>
                <a:ea typeface="Lato"/>
                <a:cs typeface="Lato"/>
                <a:sym typeface="Lato"/>
              </a:rPr>
              <a:t>Hindi,</a:t>
            </a:r>
            <a:endParaRPr sz="3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Lato"/>
                <a:ea typeface="Lato"/>
                <a:cs typeface="Lato"/>
                <a:sym typeface="Lato"/>
              </a:rPr>
              <a:t>Marathi</a:t>
            </a:r>
            <a:endParaRPr sz="3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 txBox="1"/>
          <p:nvPr/>
        </p:nvSpPr>
        <p:spPr>
          <a:xfrm>
            <a:off x="1085850" y="804545"/>
            <a:ext cx="7315200" cy="747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authentication (signup &amp; login).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Ask AI questions with natural language.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farm sessions for fertilizer recommendations.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 history of past queries and answers.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Multi-language support.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Supplemental tips, weather and market information.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1" name="Google Shape;1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47ca34e03_0_57"/>
          <p:cNvSpPr txBox="1"/>
          <p:nvPr/>
        </p:nvSpPr>
        <p:spPr>
          <a:xfrm>
            <a:off x="1329775" y="515475"/>
            <a:ext cx="9442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SzPts val="3400"/>
              <a:buFont typeface="Lato"/>
              <a:buChar char="●"/>
            </a:pPr>
            <a:r>
              <a:rPr lang="en-US" sz="3400">
                <a:latin typeface="Lato"/>
                <a:ea typeface="Lato"/>
                <a:cs typeface="Lato"/>
                <a:sym typeface="Lato"/>
              </a:rPr>
              <a:t>Code : </a:t>
            </a:r>
            <a:endParaRPr sz="54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8" name="Google Shape;188;g3c47ca34e03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2400" y="1354200"/>
            <a:ext cx="9448958" cy="657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2441242" y="1653859"/>
            <a:ext cx="34494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3063302" y="2856890"/>
            <a:ext cx="1653229" cy="24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t/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063302" y="3174565"/>
            <a:ext cx="1653229" cy="310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9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939286" y="1502995"/>
            <a:ext cx="10046400" cy="19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user interacts with the Expo (React Native) app.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45720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45720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 app sends the user input the Flask backend.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45720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45720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Flask backend processes the request &amp; 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45720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lphaL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Reads/writes data in the MySQL database.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51435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lphaL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Requests responses from Gemini AI when needed.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51435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51435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Flask backend combines database data and AI output.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45720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45720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result is sent back to the Expo app and displayed to the user.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457200" marR="0" rtl="0" algn="l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9922443" y="3174565"/>
            <a:ext cx="1644435" cy="310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3124996" y="6370551"/>
            <a:ext cx="1591672" cy="24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t/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3124996" y="6688226"/>
            <a:ext cx="1591672" cy="310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9869680" y="6123226"/>
            <a:ext cx="1697198" cy="494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t/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9869680" y="6688226"/>
            <a:ext cx="1697198" cy="310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2852142" y="7534394"/>
            <a:ext cx="8926116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000"/>
              <a:buFont typeface="Lato"/>
              <a:buNone/>
            </a:pPr>
            <a:r>
              <a:rPr lang="en-US" sz="10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811155" y="524910"/>
            <a:ext cx="7315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4000"/>
              <a:buFont typeface="Noto Sans Symbols"/>
              <a:buChar char="❖"/>
            </a:pPr>
            <a:r>
              <a:rPr b="1" lang="en-US" sz="400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 Architecture :-</a:t>
            </a:r>
            <a:endParaRPr b="1" sz="4000">
              <a:solidFill>
                <a:srgbClr val="28282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 txBox="1"/>
          <p:nvPr/>
        </p:nvSpPr>
        <p:spPr>
          <a:xfrm>
            <a:off x="334010" y="836295"/>
            <a:ext cx="12845415" cy="5601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3515" y="1522095"/>
            <a:ext cx="11305540" cy="544322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9"/>
          <p:cNvSpPr txBox="1"/>
          <p:nvPr/>
        </p:nvSpPr>
        <p:spPr>
          <a:xfrm>
            <a:off x="1453515" y="621665"/>
            <a:ext cx="7315200" cy="6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3500"/>
              <a:buFont typeface="Arial"/>
              <a:buChar char="•"/>
            </a:pPr>
            <a:r>
              <a:rPr b="1" lang="en-US" sz="350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Flow Chart </a:t>
            </a:r>
            <a:endParaRPr b="1" sz="3500">
              <a:solidFill>
                <a:srgbClr val="28282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"/>
          <p:cNvSpPr/>
          <p:nvPr/>
        </p:nvSpPr>
        <p:spPr>
          <a:xfrm>
            <a:off x="743188" y="514747"/>
            <a:ext cx="38097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lnSpc>
                <a:spcPct val="115625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3200"/>
              <a:buFont typeface="Noto Sans Symbols"/>
              <a:buChar char="❖"/>
            </a:pPr>
            <a:r>
              <a:rPr b="1" lang="en-US" sz="320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Key Features :-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8" name="Google Shape;21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188" y="1474113"/>
            <a:ext cx="1379815" cy="172473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0"/>
          <p:cNvSpPr/>
          <p:nvPr/>
        </p:nvSpPr>
        <p:spPr>
          <a:xfrm>
            <a:off x="743188" y="3398758"/>
            <a:ext cx="2381131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User authentication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743188" y="3792379"/>
            <a:ext cx="3135987" cy="560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600"/>
              <a:buFont typeface="Lato"/>
              <a:buNone/>
            </a:pPr>
            <a:r>
              <a:rPr lang="en-US" sz="16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Phone-based signup/login ensures simple, secure access.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1" name="Google Shape;22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9081" y="1474113"/>
            <a:ext cx="1379815" cy="172473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0"/>
          <p:cNvSpPr/>
          <p:nvPr/>
        </p:nvSpPr>
        <p:spPr>
          <a:xfrm>
            <a:off x="4079081" y="3398758"/>
            <a:ext cx="2381131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Ask AI questions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4079081" y="3792379"/>
            <a:ext cx="3136106" cy="560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600"/>
              <a:buFont typeface="Lato"/>
              <a:buNone/>
            </a:pPr>
            <a:r>
              <a:rPr lang="en-US" sz="16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Natural language chat for pest ID, treatment, and agronomic advice.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4" name="Google Shape;22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15093" y="1474113"/>
            <a:ext cx="1379815" cy="172473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"/>
          <p:cNvSpPr/>
          <p:nvPr/>
        </p:nvSpPr>
        <p:spPr>
          <a:xfrm>
            <a:off x="7415093" y="3398758"/>
            <a:ext cx="2381131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Farm Sessions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7415093" y="3792379"/>
            <a:ext cx="3136106" cy="560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600"/>
              <a:buFont typeface="Lato"/>
              <a:buNone/>
            </a:pPr>
            <a:r>
              <a:rPr lang="en-US" sz="16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Create structured fertilizer sessions with dosages and timelines.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7" name="Google Shape;22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51106" y="1474113"/>
            <a:ext cx="1379815" cy="172473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0"/>
          <p:cNvSpPr/>
          <p:nvPr/>
        </p:nvSpPr>
        <p:spPr>
          <a:xfrm>
            <a:off x="10751106" y="3398758"/>
            <a:ext cx="2381131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History &amp; tracking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10751106" y="3792379"/>
            <a:ext cx="3136106" cy="560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600"/>
              <a:buFont typeface="Lato"/>
              <a:buNone/>
            </a:pPr>
            <a:r>
              <a:rPr lang="en-US" sz="16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Review past queries, follow-up notes, and applied recommendations.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0" name="Google Shape;230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3188" y="4672846"/>
            <a:ext cx="1379815" cy="172473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0"/>
          <p:cNvSpPr/>
          <p:nvPr/>
        </p:nvSpPr>
        <p:spPr>
          <a:xfrm>
            <a:off x="743204" y="6597500"/>
            <a:ext cx="33360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Multi-language support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743188" y="6991112"/>
            <a:ext cx="3135987" cy="560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600"/>
              <a:buFont typeface="Lato"/>
              <a:buNone/>
            </a:pPr>
            <a:r>
              <a:rPr lang="en-US" sz="16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English, Hindi, and Marathi with localization for local terms.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3" name="Google Shape;233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79081" y="4672846"/>
            <a:ext cx="1379815" cy="172473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0"/>
          <p:cNvSpPr/>
          <p:nvPr/>
        </p:nvSpPr>
        <p:spPr>
          <a:xfrm>
            <a:off x="4079074" y="6597500"/>
            <a:ext cx="29097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Supplemental info/Tips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079081" y="6991112"/>
            <a:ext cx="3136106" cy="560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600"/>
              <a:buFont typeface="Lato"/>
              <a:buNone/>
            </a:pPr>
            <a:r>
              <a:rPr lang="en-US" sz="16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Weather alerts, short practical tips, and local market signals.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0" name="Google Shape;24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6015" y="635"/>
            <a:ext cx="5875020" cy="822896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1"/>
          <p:cNvSpPr txBox="1"/>
          <p:nvPr/>
        </p:nvSpPr>
        <p:spPr>
          <a:xfrm>
            <a:off x="4752340" y="2185035"/>
            <a:ext cx="48768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 txBox="1"/>
          <p:nvPr/>
        </p:nvSpPr>
        <p:spPr>
          <a:xfrm>
            <a:off x="1196340" y="3453130"/>
            <a:ext cx="7315200" cy="661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74166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6000"/>
              <a:buFont typeface="Lato"/>
              <a:buNone/>
            </a:pPr>
            <a:r>
              <a:rPr b="1" lang="en-US" sz="600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THANK YOU !!!</a:t>
            </a:r>
            <a:endParaRPr b="1" sz="6000">
              <a:solidFill>
                <a:srgbClr val="28282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2026-02-23T04:11:00Z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0F9E9A55319241089ACD26B0F13403D2_12</vt:lpwstr>
  </property>
  <property fmtid="{D5CDD505-2E9C-101B-9397-08002B2CF9AE}" pid="3" name="KSOProductBuildVer">
    <vt:lpwstr>1033-12.2.0.20326</vt:lpwstr>
  </property>
</Properties>
</file>